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장소 수</c:v>
                </c:pt>
              </c:strCache>
            </c:strRef>
          </c:tx>
          <c:spPr>
            <a:solidFill>
              <a:srgbClr val="F276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B7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276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9A5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E8EA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6B4C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3FB78C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FB6CC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6B8FEA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8A7BE8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EE7AA1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C577C6"/>
              </a:solidFill>
              <a:effectLst/>
            </c:spPr>
          </c:dPt>
          <c:dPt>
            <c:idx val="10"/>
            <c:invertIfNegative val="0"/>
            <c:bubble3D val="0"/>
            <c:spPr>
              <a:solidFill>
                <a:srgbClr val="83BE5C"/>
              </a:solidFill>
              <a:effectLst/>
            </c:spPr>
          </c:dPt>
          <c:cat>
            <c:multiLvlStrRef>
              <c:f>Sheet1!$A$2:$A$12</c:f>
              <c:multiLvlStrCache>
                <c:ptCount val="11"/>
                <c:lvl>
                  <c:pt idx="0">
                    <c:v>음식점</c:v>
                  </c:pt>
                  <c:pt idx="1">
                    <c:v>카페</c:v>
                  </c:pt>
                  <c:pt idx="2">
                    <c:v>주거·부동산</c:v>
                  </c:pt>
                  <c:pt idx="3">
                    <c:v>생활</c:v>
                  </c:pt>
                  <c:pt idx="4">
                    <c:v>문화</c:v>
                  </c:pt>
                  <c:pt idx="5">
                    <c:v>레저</c:v>
                  </c:pt>
                  <c:pt idx="6">
                    <c:v>숙박</c:v>
                  </c:pt>
                  <c:pt idx="7">
                    <c:v>술집·바</c:v>
                  </c:pt>
                  <c:pt idx="8">
                    <c:v>명소</c:v>
                  </c:pt>
                  <c:pt idx="9">
                    <c:v>쇼핑</c:v>
                  </c:pt>
                  <c:pt idx="10">
                    <c:v>자연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272</c:v>
                </c:pt>
                <c:pt idx="1">
                  <c:v>198</c:v>
                </c:pt>
                <c:pt idx="2">
                  <c:v>87</c:v>
                </c:pt>
                <c:pt idx="3">
                  <c:v>71</c:v>
                </c:pt>
                <c:pt idx="4">
                  <c:v>32</c:v>
                </c:pt>
                <c:pt idx="5">
                  <c:v>23</c:v>
                </c:pt>
                <c:pt idx="6">
                  <c:v>20</c:v>
                </c:pt>
                <c:pt idx="7">
                  <c:v>16</c:v>
                </c:pt>
                <c:pt idx="8">
                  <c:v>13</c:v>
                </c:pt>
                <c:pt idx="9">
                  <c:v>9</c:v>
                </c:pt>
                <c:pt idx="10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A6B7C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B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장소 수</c:v>
                </c:pt>
              </c:strCache>
            </c:strRef>
          </c:tx>
          <c:spPr>
            <a:solidFill>
              <a:srgbClr val="3B7DE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5A6B7C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경기</c:v>
                  </c:pt>
                  <c:pt idx="1">
                    <c:v>서울</c:v>
                  </c:pt>
                  <c:pt idx="2">
                    <c:v>대전</c:v>
                  </c:pt>
                  <c:pt idx="3">
                    <c:v>제주</c:v>
                  </c:pt>
                  <c:pt idx="4">
                    <c:v>강원</c:v>
                  </c:pt>
                  <c:pt idx="5">
                    <c:v>부산</c:v>
                  </c:pt>
                  <c:pt idx="6">
                    <c:v>경남</c:v>
                  </c:pt>
                  <c:pt idx="7">
                    <c:v>광주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386</c:v>
                </c:pt>
                <c:pt idx="1">
                  <c:v>190</c:v>
                </c:pt>
                <c:pt idx="2">
                  <c:v>67</c:v>
                </c:pt>
                <c:pt idx="3">
                  <c:v>29</c:v>
                </c:pt>
                <c:pt idx="4">
                  <c:v>28</c:v>
                </c:pt>
                <c:pt idx="5">
                  <c:v>13</c:v>
                </c:pt>
                <c:pt idx="6">
                  <c:v>5</c:v>
                </c:pt>
                <c:pt idx="7">
                  <c:v>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5A6B7C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02B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네이버 지도 즐겨찾기를 원본으로 삼아, 테마별로 정리하고 지도에 펼쳐 보여주는 개인용 웹앱. 기획 배경과 사용법을 함께 담은 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문제 정의: 저장 자체는 네이버가 잘 하지만, 750곳이 넘어가면 다시 찾아 쓰는 게 불가능해진다.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역할 분담이 핵심. 네이버는 저장소, 이 앱은 뷰어이자 정리 도구. 원본을 대체하지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수집은 가볍고 빠르지만, 보강은 장소당 1.4초가 걸려 브라우저에서는 못 한다. 그래서 두 겹 구조가 나왔다.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750곳 중 사진이 있는 곳이 588곳. 나머지는 네이버에 대표 사진 자체가 없다.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네이버가 주는 카테고리만으로는 부족해서 장소명·설명까지 같이 본다. 예를 들어 '소금빵'이 이름에 있으면 카페&gt;소금빵으로 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경기·서울이 전체의 77%. 지역 필터는 3단으로 좁혀 들어간다.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여섯 가지가 이 앱의 전부. 나머지는 이걸 받쳐주는 장치.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홈 화면 구성 요소를 위에서 아래 순서로.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필터를 겹칠 수 있다는 게 핵심. 조합하면 750곳이 몇 곳으로 줄어든다.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주의사항: 내 기록은 로컬 저장이다. 백업을 권한다.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정렬 + 필터 조합 예시를 실제 상황으로 보여준다.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엔진은 Gemini. 저장 장소 안에서만 고르기 때문에 '가본 적 없는 엉뚱한 곳'이 나오지 않는다.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왜 두 겹인지: 사진 수집이 장소당 1.4초라 브라우저에서 못 한다. 그래서 즉시 반영과 완전 반영을 나눴다.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프레임워크를 안 쓴 이유는 개인용이고 가볍게 유지하기 위해서. 삭제는 되돌릴 수 없어 안전장치를 겹으로 걸었다.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마무리: 원래 요구했던 것은 모두 구현됐고, 남은 것은 운영 설정과 의도적으로 범위에서 뺀 것들이다.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960120"/>
            <a:ext cx="310896" cy="310896"/>
          </a:xfrm>
          <a:prstGeom prst="ellipse">
            <a:avLst/>
          </a:prstGeom>
          <a:solidFill>
            <a:srgbClr val="F2765F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463040"/>
            <a:ext cx="310896" cy="310896"/>
          </a:xfrm>
          <a:prstGeom prst="ellipse">
            <a:avLst/>
          </a:prstGeom>
          <a:solidFill>
            <a:srgbClr val="D99A55"/>
          </a:solidFill>
          <a:ln/>
        </p:spPr>
      </p:sp>
      <p:sp>
        <p:nvSpPr>
          <p:cNvPr id="4" name="Shape 2"/>
          <p:cNvSpPr/>
          <p:nvPr/>
        </p:nvSpPr>
        <p:spPr>
          <a:xfrm>
            <a:off x="9966960" y="2148840"/>
            <a:ext cx="310896" cy="310896"/>
          </a:xfrm>
          <a:prstGeom prst="ellipse">
            <a:avLst/>
          </a:prstGeom>
          <a:solidFill>
            <a:srgbClr val="7E8EA0"/>
          </a:solidFill>
          <a:ln/>
        </p:spPr>
      </p:sp>
      <p:sp>
        <p:nvSpPr>
          <p:cNvPr id="5" name="Shape 3"/>
          <p:cNvSpPr/>
          <p:nvPr/>
        </p:nvSpPr>
        <p:spPr>
          <a:xfrm>
            <a:off x="11064240" y="2514600"/>
            <a:ext cx="310896" cy="310896"/>
          </a:xfrm>
          <a:prstGeom prst="ellipse">
            <a:avLst/>
          </a:prstGeom>
          <a:solidFill>
            <a:srgbClr val="A6B4C2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0" y="2880360"/>
            <a:ext cx="310896" cy="310896"/>
          </a:xfrm>
          <a:prstGeom prst="ellipse">
            <a:avLst/>
          </a:prstGeom>
          <a:solidFill>
            <a:srgbClr val="3FB78C"/>
          </a:solidFill>
          <a:ln/>
        </p:spPr>
      </p:sp>
      <p:sp>
        <p:nvSpPr>
          <p:cNvPr id="7" name="Shape 5"/>
          <p:cNvSpPr/>
          <p:nvPr/>
        </p:nvSpPr>
        <p:spPr>
          <a:xfrm>
            <a:off x="10424160" y="3291840"/>
            <a:ext cx="310896" cy="310896"/>
          </a:xfrm>
          <a:prstGeom prst="ellipse">
            <a:avLst/>
          </a:prstGeom>
          <a:solidFill>
            <a:srgbClr val="2FB6CC"/>
          </a:solidFill>
          <a:ln/>
        </p:spPr>
      </p:sp>
      <p:sp>
        <p:nvSpPr>
          <p:cNvPr id="8" name="Shape 6"/>
          <p:cNvSpPr/>
          <p:nvPr/>
        </p:nvSpPr>
        <p:spPr>
          <a:xfrm>
            <a:off x="11247120" y="3977640"/>
            <a:ext cx="310896" cy="310896"/>
          </a:xfrm>
          <a:prstGeom prst="ellipse">
            <a:avLst/>
          </a:prstGeom>
          <a:solidFill>
            <a:srgbClr val="6B8FEA"/>
          </a:solidFill>
          <a:ln/>
        </p:spPr>
      </p:sp>
      <p:sp>
        <p:nvSpPr>
          <p:cNvPr id="9" name="Shape 7"/>
          <p:cNvSpPr/>
          <p:nvPr/>
        </p:nvSpPr>
        <p:spPr>
          <a:xfrm>
            <a:off x="9784080" y="4206240"/>
            <a:ext cx="310896" cy="310896"/>
          </a:xfrm>
          <a:prstGeom prst="ellipse">
            <a:avLst/>
          </a:prstGeom>
          <a:solidFill>
            <a:srgbClr val="8A7BE8"/>
          </a:solidFill>
          <a:ln/>
        </p:spPr>
      </p:sp>
      <p:sp>
        <p:nvSpPr>
          <p:cNvPr id="10" name="Shape 8"/>
          <p:cNvSpPr/>
          <p:nvPr/>
        </p:nvSpPr>
        <p:spPr>
          <a:xfrm>
            <a:off x="10789920" y="4846320"/>
            <a:ext cx="310896" cy="310896"/>
          </a:xfrm>
          <a:prstGeom prst="ellipse">
            <a:avLst/>
          </a:prstGeom>
          <a:solidFill>
            <a:srgbClr val="EE7AA1"/>
          </a:solidFill>
          <a:ln/>
        </p:spPr>
      </p:sp>
      <p:sp>
        <p:nvSpPr>
          <p:cNvPr id="11" name="Shape 9"/>
          <p:cNvSpPr/>
          <p:nvPr/>
        </p:nvSpPr>
        <p:spPr>
          <a:xfrm>
            <a:off x="9418320" y="5257800"/>
            <a:ext cx="310896" cy="310896"/>
          </a:xfrm>
          <a:prstGeom prst="ellipse">
            <a:avLst/>
          </a:prstGeom>
          <a:solidFill>
            <a:srgbClr val="C577C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972800" y="5669280"/>
            <a:ext cx="310896" cy="310896"/>
          </a:xfrm>
          <a:prstGeom prst="ellipse">
            <a:avLst/>
          </a:prstGeom>
          <a:solidFill>
            <a:srgbClr val="83BE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7FB0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· 2026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18288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하영의 지도</a:t>
            </a:r>
            <a:endParaRPr lang="en-US" sz="5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2880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즐겨찾기 750곳을,  내가 실제로 쓸 수 있게</a:t>
            </a:r>
            <a:endParaRPr lang="en-US" sz="2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기획안 · 사용 매뉴얼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42245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favplace-map.pages.dev   ·   2026.09.04 기준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저장은 쌓이는데, 다시 꺼내 쓸 수가 없었다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240280"/>
            <a:ext cx="182880" cy="182880"/>
          </a:xfrm>
          <a:prstGeom prst="ellipse">
            <a:avLst/>
          </a:prstGeom>
          <a:solidFill>
            <a:srgbClr val="F276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05840" y="24871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750곳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네이버에 쌓인 즐겨찾기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목록이 한 줄로만 나열돼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어디에 뭐가 있는지 알 수 없음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40280"/>
            <a:ext cx="182880" cy="182880"/>
          </a:xfrm>
          <a:prstGeom prst="ellipse">
            <a:avLst/>
          </a:prstGeom>
          <a:solidFill>
            <a:srgbClr val="D99A5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09160" y="24871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7개</a:t>
            </a:r>
            <a:endParaRPr lang="en-US" sz="42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네이버의 리스트(폴더)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폴더로는 테마 분류가 안 됨.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'카페'와 '한식'을 갈라볼 수 없음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092440" y="1920240"/>
            <a:ext cx="3383280" cy="2926080"/>
          </a:xfrm>
          <a:prstGeom prst="roundRect">
            <a:avLst>
              <a:gd name="adj" fmla="val 375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2240280"/>
            <a:ext cx="182880" cy="182880"/>
          </a:xfrm>
          <a:prstGeom prst="ellipse">
            <a:avLst/>
          </a:prstGeom>
          <a:solidFill>
            <a:srgbClr val="8A7B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12480" y="248716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0개</a:t>
            </a:r>
            <a:endParaRPr lang="en-US" sz="4200" dirty="0"/>
          </a:p>
        </p:txBody>
      </p:sp>
      <p:sp>
        <p:nvSpPr>
          <p:cNvPr id="17" name="Text 15"/>
          <p:cNvSpPr txBox="1"/>
          <p:nvPr/>
        </p:nvSpPr>
        <p:spPr>
          <a:xfrm>
            <a:off x="8412480" y="3310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남긴 평가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412480" y="3675888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다녀왔는지, 좋았는지를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기록할 자리가 아예 없음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85800" y="523036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6B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즐겨찾기는 '저장하는 곳'이었지, '고르는 곳'이 아니었다.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CONCEPT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서비스가 무엇인가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51560" y="2057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즐겨찾기가 </a:t>
            </a:r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2E6B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원본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이고, 이 앱은 그걸 </a:t>
            </a:r>
            <a:pPr indent="0" marL="0">
              <a:lnSpc>
                <a:spcPct val="125000"/>
              </a:lnSpc>
              <a:buNone/>
            </a:pPr>
            <a:r>
              <a:rPr lang="en-US" sz="2200" b="1" dirty="0">
                <a:solidFill>
                  <a:srgbClr val="2E6B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 좋게 정리해 보여주는 도구</a:t>
            </a:r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85800" y="342900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3730752"/>
            <a:ext cx="173736" cy="173736"/>
          </a:xfrm>
          <a:prstGeom prst="ellipse">
            <a:avLst/>
          </a:prstGeom>
          <a:solidFill>
            <a:srgbClr val="8C9BA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44168" y="3657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네이버가 하는 일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69848" y="411480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저장 (원본)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폴더(리스트) 보관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사진·평점·리뷰 제공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309360" y="3429000"/>
            <a:ext cx="5166360" cy="2331720"/>
          </a:xfrm>
          <a:prstGeom prst="roundRect">
            <a:avLst>
              <a:gd name="adj" fmla="val 4706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75120" y="3730752"/>
            <a:ext cx="173736" cy="173736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67728" y="3657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앱이 하는 일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693408" y="4114800"/>
            <a:ext cx="4480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 11종으로 자동 분류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지도·지역·점수로 탐색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방문·별점·메모 기록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코스 생성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데이터가 흘러오는 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2011680" cy="278892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2240280"/>
            <a:ext cx="457200" cy="457200"/>
          </a:xfrm>
          <a:prstGeom prst="ellipse">
            <a:avLst/>
          </a:prstGeom>
          <a:solidFill>
            <a:srgbClr val="8A7B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59536" y="2331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59536" y="32461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즐겨찾기 API에서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목록을 받아온다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542032" y="30632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16352" y="1965960"/>
            <a:ext cx="2011680" cy="278892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2240280"/>
            <a:ext cx="457200" cy="457200"/>
          </a:xfrm>
          <a:prstGeom prst="ellipse">
            <a:avLst/>
          </a:prstGeom>
          <a:solidFill>
            <a:srgbClr val="D99A5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108960" y="2331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보강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108960" y="32461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장소별 사진·평점·메뉴·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한줄평을 추가로 수집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791456" y="30632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5065776" y="1965960"/>
            <a:ext cx="2011680" cy="278892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58384" y="2240280"/>
            <a:ext cx="457200" cy="457200"/>
          </a:xfrm>
          <a:prstGeom prst="ellipse">
            <a:avLst/>
          </a:prstGeom>
          <a:solidFill>
            <a:srgbClr val="3FB7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58384" y="2331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358384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분류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58384" y="32461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 + 장소명을 분석해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 11종 / 세부로 나눔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30632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7315200" y="1965960"/>
            <a:ext cx="2011680" cy="278892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07808" y="2240280"/>
            <a:ext cx="457200" cy="457200"/>
          </a:xfrm>
          <a:prstGeom prst="ellipse">
            <a:avLst/>
          </a:prstGeom>
          <a:solidFill>
            <a:srgbClr val="2FB6CC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07808" y="2331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607808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지역화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07808" y="32461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주소에서 시도·시군구·동을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추출해 3단 드릴다운 구성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9290304" y="3063240"/>
            <a:ext cx="292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564624" y="1965960"/>
            <a:ext cx="2011680" cy="2788920"/>
          </a:xfrm>
          <a:prstGeom prst="roundRect">
            <a:avLst>
              <a:gd name="adj" fmla="val 5455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857232" y="2240280"/>
            <a:ext cx="457200" cy="457200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857232" y="233172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57232" y="28529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배포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857232" y="3246120"/>
            <a:ext cx="151790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파일로 빌드해</a:t>
            </a:r>
            <a:endParaRPr lang="en-US" sz="11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Cloudflare에 올림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685800" y="5138928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01~04는 PC에서 매일 새벽 자동 실행 · 앱에서 ⟳ 버튼을 누르면 01만 즉시 실행돼 지도에 바로 반영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숫자로 보는 현재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487168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2267712"/>
            <a:ext cx="173736" cy="173736"/>
          </a:xfrm>
          <a:prstGeom prst="ellipse">
            <a:avLst/>
          </a:prstGeom>
          <a:solidFill>
            <a:srgbClr val="F276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487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750</a:t>
            </a:r>
            <a:endParaRPr lang="en-US" sz="46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3310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장소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447288" y="1965960"/>
            <a:ext cx="2487168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58184" y="2267712"/>
            <a:ext cx="173736" cy="173736"/>
          </a:xfrm>
          <a:prstGeom prst="ellipse">
            <a:avLst/>
          </a:prstGeom>
          <a:solidFill>
            <a:srgbClr val="D99A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39896" y="2487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588</a:t>
            </a:r>
            <a:endParaRPr lang="en-US" sz="4600" dirty="0"/>
          </a:p>
        </p:txBody>
      </p:sp>
      <p:sp>
        <p:nvSpPr>
          <p:cNvPr id="11" name="Text 9"/>
          <p:cNvSpPr txBox="1"/>
          <p:nvPr/>
        </p:nvSpPr>
        <p:spPr>
          <a:xfrm>
            <a:off x="3758184" y="3310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확보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08776" y="1965960"/>
            <a:ext cx="2487168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19672" y="2267712"/>
            <a:ext cx="173736" cy="173736"/>
          </a:xfrm>
          <a:prstGeom prst="ellipse">
            <a:avLst/>
          </a:prstGeom>
          <a:solidFill>
            <a:srgbClr val="3FB78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1384" y="2487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6519672" y="3310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 분류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970264" y="1965960"/>
            <a:ext cx="2487168" cy="1828800"/>
          </a:xfrm>
          <a:prstGeom prst="roundRect">
            <a:avLst>
              <a:gd name="adj" fmla="val 6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81160" y="2267712"/>
            <a:ext cx="173736" cy="173736"/>
          </a:xfrm>
          <a:prstGeom prst="ellipse">
            <a:avLst/>
          </a:prstGeom>
          <a:solidFill>
            <a:srgbClr val="8A7B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62872" y="2487168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708</a:t>
            </a:r>
            <a:endParaRPr lang="en-US" sz="46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3101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 단위 위치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49808" y="4151376"/>
            <a:ext cx="128016" cy="128016"/>
          </a:xfrm>
          <a:prstGeom prst="ellipse">
            <a:avLst/>
          </a:prstGeom>
          <a:solidFill>
            <a:srgbClr val="8C9BA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051560" y="4069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폐업 15곳  </a:t>
            </a:r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네이버가 삭제했거나 문 닫은 곳 — 목록에 표시만 하고 걸러낼 수 있음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49808" y="4718304"/>
            <a:ext cx="128016" cy="128016"/>
          </a:xfrm>
          <a:prstGeom prst="ellipse">
            <a:avLst/>
          </a:prstGeom>
          <a:solidFill>
            <a:srgbClr val="8C9BA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051560" y="4636008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 없는 162곳  </a:t>
            </a:r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네이버에 대표 사진이 없는 장소. 이름·위치·분류는 모두 정상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9808" y="5285232"/>
            <a:ext cx="128016" cy="128016"/>
          </a:xfrm>
          <a:prstGeom prst="ellipse">
            <a:avLst/>
          </a:prstGeom>
          <a:solidFill>
            <a:srgbClr val="8C9BA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51560" y="5202936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 정보 42곳 없음  </a:t>
            </a:r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중 10곳은 '주소 즐겨찾기'라 장소 페이지가 없어 원리상 채울 수 없음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TAXONOMY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 11종 — 색이 곧 분류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783080"/>
          <a:ext cx="64008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783080"/>
            <a:ext cx="4069080" cy="4114800"/>
          </a:xfrm>
          <a:prstGeom prst="roundRect">
            <a:avLst>
              <a:gd name="adj" fmla="val 2697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26680" y="20574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2단 구조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2450592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대분류를 고른 뒤 › 를 누르면 세부 종류로 좁혀집니다.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26680" y="3182112"/>
            <a:ext cx="164592" cy="164592"/>
          </a:xfrm>
          <a:prstGeom prst="ellipse">
            <a:avLst/>
          </a:prstGeom>
          <a:solidFill>
            <a:srgbClr val="F2765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001000" y="31089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음식점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345643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한식 100 · 고기·구이 54 · 양식 43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일식·회 33 · 중식 20 · 분식 15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726680" y="4462272"/>
            <a:ext cx="164592" cy="164592"/>
          </a:xfrm>
          <a:prstGeom prst="ellipse">
            <a:avLst/>
          </a:prstGeom>
          <a:solidFill>
            <a:srgbClr val="D99A55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01000" y="43891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카페</a:t>
            </a:r>
            <a:endParaRPr lang="en-US" sz="145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473659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디저트 81 · 커피 47 · 베이커리 27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브런치 11 · 케이크 8 · 베이글 6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5376672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카테고리 + 장소명을 함께 분석해 자동 분류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COVERAGE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분포 — 도 › 시군구 › 동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828800"/>
          <a:ext cx="63093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828800"/>
            <a:ext cx="4160520" cy="3383280"/>
          </a:xfrm>
          <a:prstGeom prst="roundRect">
            <a:avLst>
              <a:gd name="adj" fmla="val 3243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662672" y="2103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3단 드릴다운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662672" y="2670048"/>
            <a:ext cx="310896" cy="310896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662672" y="2715768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8092440" y="2651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/ 시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092440" y="29260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 386 · 서울 190 · 대전 67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662672" y="3474720"/>
            <a:ext cx="310896" cy="310896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662672" y="3520440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8092440" y="34564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092440" y="373075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용인시 처인구 · 강남구 · 유성구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662672" y="4279392"/>
            <a:ext cx="310896" cy="310896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662672" y="432511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8092440" y="426110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 / 읍면리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45354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정자동 · 양지면 · 은행동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지도에서 가까운 핀은 “동네 이름 + 개수” 버블로 묶여, 숫자만 뜨는 클러스터보다 어디인지 바로 읽힙니다.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기능 여섯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67128"/>
            <a:ext cx="384048" cy="384048"/>
          </a:xfrm>
          <a:prstGeom prst="ellipse">
            <a:avLst/>
          </a:prstGeom>
          <a:solidFill>
            <a:srgbClr val="8A7B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27048" y="2185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탐색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2715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 색 핀 + 동네 버블.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지역·테마·기록을 조합해 필터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9120" y="187452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2167128"/>
            <a:ext cx="384048" cy="384048"/>
          </a:xfrm>
          <a:prstGeom prst="ellipse">
            <a:avLst/>
          </a:prstGeom>
          <a:solidFill>
            <a:srgbClr val="D999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230368" y="2185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별점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2715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별 1~5개.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별을 다시 누르면 해제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187452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0" y="2167128"/>
            <a:ext cx="384048" cy="384048"/>
          </a:xfrm>
          <a:prstGeom prst="ellipse">
            <a:avLst/>
          </a:prstGeom>
          <a:solidFill>
            <a:srgbClr val="F276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933688" y="21854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정렬·필터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71576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별점순 / 네이버 평점순.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★4 이상만 골라 보기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05840" y="4133088"/>
            <a:ext cx="384048" cy="384048"/>
          </a:xfrm>
          <a:prstGeom prst="ellipse">
            <a:avLst/>
          </a:prstGeom>
          <a:solidFill>
            <a:srgbClr val="3FB78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27048" y="41513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 · 메모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46817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가봤어요 체크와 자유 메모.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 가본 곳만 걸러 보기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89120" y="384048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4133088"/>
            <a:ext cx="384048" cy="384048"/>
          </a:xfrm>
          <a:prstGeom prst="ellipse">
            <a:avLst/>
          </a:prstGeom>
          <a:solidFill>
            <a:srgbClr val="A6B4C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230368" y="41513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코스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709160" y="46817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말로 요청하면 저장 장소로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동선·시간까지 짜줌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092440" y="384048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4133088"/>
            <a:ext cx="384048" cy="384048"/>
          </a:xfrm>
          <a:prstGeom prst="ellipse">
            <a:avLst/>
          </a:prstGeom>
          <a:solidFill>
            <a:srgbClr val="7E8EA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933688" y="41513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반영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4681728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지우면 네이버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즐겨찾기에서도 삭제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매뉴얼 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홈 — 어디에 뭐가 있나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993392"/>
            <a:ext cx="146304" cy="146304"/>
          </a:xfrm>
          <a:prstGeom prst="ellipse">
            <a:avLst/>
          </a:prstGeom>
          <a:solidFill>
            <a:srgbClr val="F276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61872" y="19110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상단 검색 필드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9202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 · 지명 · 메뉴 · 설명으로 검색. 지명을 넣으면 그 지역 장소만 남습니다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4688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679192"/>
            <a:ext cx="146304" cy="146304"/>
          </a:xfrm>
          <a:prstGeom prst="ellipse">
            <a:avLst/>
          </a:prstGeom>
          <a:solidFill>
            <a:srgbClr val="D99A5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61872" y="25968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칩 3개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26060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 · 테마 · 내 기록. 누르면 각각 드릴다운 시트가 열립니다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31546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0120" y="3364992"/>
            <a:ext cx="146304" cy="146304"/>
          </a:xfrm>
          <a:prstGeom prst="ellipse">
            <a:avLst/>
          </a:prstGeom>
          <a:solidFill>
            <a:srgbClr val="7E8EA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61872" y="32826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우측 ⟳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657600" y="32918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네이버에서 지금 목록을 받아 지도에 즉시 반영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5800" y="38404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050792"/>
            <a:ext cx="146304" cy="146304"/>
          </a:xfrm>
          <a:prstGeom prst="ellipse">
            <a:avLst/>
          </a:prstGeom>
          <a:solidFill>
            <a:srgbClr val="A6B4C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261872" y="39684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우측 ◎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9776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위치 표시. 켜면 '가까운 순' 정렬이 추가됩니다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85800" y="45262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60120" y="4736592"/>
            <a:ext cx="146304" cy="146304"/>
          </a:xfrm>
          <a:prstGeom prst="ellipse">
            <a:avLst/>
          </a:prstGeom>
          <a:solidFill>
            <a:srgbClr val="3FB7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61872" y="46542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우하단 ✨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3657600" y="46634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추천 코스 열기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85800" y="5212080"/>
            <a:ext cx="1078992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F4F7F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5422392"/>
            <a:ext cx="146304" cy="146304"/>
          </a:xfrm>
          <a:prstGeom prst="ellipse">
            <a:avLst/>
          </a:prstGeom>
          <a:solidFill>
            <a:srgbClr val="2FB6C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61872" y="534009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하단 시트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657600" y="5349240"/>
            <a:ext cx="7589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손잡이를 탭하면 단계별로 확장. ∨ 를 누르면 완전히 숨겨집니다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매뉴얼 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필터 세 개로 750곳을 좁힌다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103120"/>
            <a:ext cx="402336" cy="402336"/>
          </a:xfrm>
          <a:prstGeom prst="ellipse">
            <a:avLst/>
          </a:prstGeom>
          <a:solidFill>
            <a:srgbClr val="8A7B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2130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697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 / 시 선택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시군구로 좁히기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 / 읍면리까지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78408" y="4114800"/>
            <a:ext cx="2798064" cy="658368"/>
          </a:xfrm>
          <a:prstGeom prst="roundRect">
            <a:avLst>
              <a:gd name="adj" fmla="val 11111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24712" y="4224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6B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경기 386 › 용인시 처인구 › 양지면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103120"/>
            <a:ext cx="402336" cy="402336"/>
          </a:xfrm>
          <a:prstGeom prst="ellipse">
            <a:avLst/>
          </a:prstGeom>
          <a:solidFill>
            <a:srgbClr val="F2765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257800" y="2130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727448" y="2697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대분류 11종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 로 세부 종류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칩에 선택 표시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81728" y="4114800"/>
            <a:ext cx="2798064" cy="658368"/>
          </a:xfrm>
          <a:prstGeom prst="roundRect">
            <a:avLst>
              <a:gd name="adj" fmla="val 11111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28032" y="4224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6B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음식점 272 › 한식 100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92440" y="1828800"/>
            <a:ext cx="3383280" cy="3200400"/>
          </a:xfrm>
          <a:prstGeom prst="roundRect">
            <a:avLst>
              <a:gd name="adj" fmla="val 3429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12480" y="2103120"/>
            <a:ext cx="402336" cy="402336"/>
          </a:xfrm>
          <a:prstGeom prst="ellipse">
            <a:avLst/>
          </a:prstGeom>
          <a:solidFill>
            <a:srgbClr val="D999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961120" y="213055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기록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269748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가본 곳 / 안 간 곳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★5 · ★4 이상 · ★3 이상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리스트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85048" y="4114800"/>
            <a:ext cx="2798064" cy="658368"/>
          </a:xfrm>
          <a:prstGeom prst="roundRect">
            <a:avLst>
              <a:gd name="adj" fmla="val 11111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31352" y="4224528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2E6BC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★4 이상 → 내가 좋아한 곳만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85800" y="534924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필터는 자유롭게 겹칩니다.   예)  지역 = 강남구  ×  테마 = 카페  ×  ★4 이상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매뉴얼 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장소마다 내 평가를 남긴다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2286000"/>
          </a:xfrm>
          <a:prstGeom prst="roundRect">
            <a:avLst>
              <a:gd name="adj" fmla="val 48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299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별점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99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99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1938528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99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2414016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9992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89504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D5DD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★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265176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4점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320040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 상세에서 별을 누르면 바로 저장됩니다. 같은 별을 다시 누르면 해제돼요.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1783080"/>
            <a:ext cx="5257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10528" y="2048256"/>
            <a:ext cx="155448" cy="155448"/>
          </a:xfrm>
          <a:prstGeom prst="ellipse">
            <a:avLst/>
          </a:prstGeom>
          <a:solidFill>
            <a:srgbClr val="A6B4C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12280" y="186537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가봤어요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213055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체크하면 목록·지도에 ✓ 가 붙고 살짝 흐려집니다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578608"/>
            <a:ext cx="5257800" cy="685800"/>
          </a:xfrm>
          <a:prstGeom prst="roundRect">
            <a:avLst>
              <a:gd name="adj" fmla="val 16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10528" y="2843784"/>
            <a:ext cx="155448" cy="155448"/>
          </a:xfrm>
          <a:prstGeom prst="ellipse">
            <a:avLst/>
          </a:prstGeom>
          <a:solidFill>
            <a:srgbClr val="3FB78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12280" y="26609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메모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12280" y="29260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자유롭게 적으면 자동 저장. 네이버 메모와는 별개입니다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374136"/>
            <a:ext cx="52578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10528" y="3639312"/>
            <a:ext cx="155448" cy="155448"/>
          </a:xfrm>
          <a:prstGeom prst="ellipse">
            <a:avLst/>
          </a:prstGeom>
          <a:solidFill>
            <a:srgbClr val="7E8EA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812280" y="3456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리스트에 추가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812280" y="37216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나만의 리스트를 만들어 담기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85800" y="4343400"/>
            <a:ext cx="10789920" cy="13716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2700">
            <a:solidFill>
              <a:srgbClr val="F0DDB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51560" y="455371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 이 기록은 이 기기(브라우저)에만 저장됩니다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51560" y="4892040"/>
            <a:ext cx="10149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4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별점·메모·방문 기록·나만의 리스트는 서버가 아니라 브라우저에 있습니다. 폰을 바꾸거나 브라우저 데이터를 지우면 사라져요.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A4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기록 화면 맨 아래 “기록 내보내기”로 가끔 백업해 두세요. 다른 기기에서는 “가져오기”로 합칠 수 있습니다.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매뉴얼 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 높은 순으로 골라 보기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87168" cy="146304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176272"/>
            <a:ext cx="164592" cy="164592"/>
          </a:xfrm>
          <a:prstGeom prst="ellipse">
            <a:avLst/>
          </a:prstGeom>
          <a:solidFill>
            <a:srgbClr val="8C9BA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395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추천순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사진·리뷰 수 기반 기본값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447288" y="1874520"/>
            <a:ext cx="2487168" cy="146304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39896" y="2176272"/>
            <a:ext cx="164592" cy="164592"/>
          </a:xfrm>
          <a:prstGeom prst="ellipse">
            <a:avLst/>
          </a:prstGeom>
          <a:solidFill>
            <a:srgbClr val="D999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739896" y="2395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별점순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739896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매긴 별점이 높은 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08776" y="1874520"/>
            <a:ext cx="2487168" cy="146304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01384" y="2176272"/>
            <a:ext cx="164592" cy="164592"/>
          </a:xfrm>
          <a:prstGeom prst="ellipse">
            <a:avLst/>
          </a:prstGeom>
          <a:solidFill>
            <a:srgbClr val="F2765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1384" y="2395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평점순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501384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방문자 평점이 높은 순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70264" y="1874520"/>
            <a:ext cx="2487168" cy="1463040"/>
          </a:xfrm>
          <a:prstGeom prst="roundRect">
            <a:avLst>
              <a:gd name="adj" fmla="val 75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262872" y="2176272"/>
            <a:ext cx="164592" cy="164592"/>
          </a:xfrm>
          <a:prstGeom prst="ellipse">
            <a:avLst/>
          </a:prstGeom>
          <a:solidFill>
            <a:srgbClr val="8A7BE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62872" y="23957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순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262872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위치를 켰을 때만 나타남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35661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정렬은 목록 위에 항상 떠 있고, 필터와 함께 걸립니다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041648"/>
            <a:ext cx="10789920" cy="1691640"/>
          </a:xfrm>
          <a:prstGeom prst="roundRect">
            <a:avLst>
              <a:gd name="adj" fmla="val 6486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51560" y="4251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쓰면 좋아요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1097280" y="4718304"/>
            <a:ext cx="118872" cy="118872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371600" y="4645152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강남에서 저녁 → 지역 강남구 × 테마 음식점 × 내 별점순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097280" y="5047488"/>
            <a:ext cx="118872" cy="118872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371600" y="4974336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재방문할 카페 → 테마 카페 × ★4 이상 × 가본 곳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97280" y="5376672"/>
            <a:ext cx="118872" cy="118872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1371600" y="53035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가볼 곳 → 안 간 곳 × 네이버 평점순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매뉴얼 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코스 — 말로 시키면 동선을 짠다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100584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물어보세요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" y="2487168"/>
            <a:ext cx="4617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07008" y="26060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“오늘 청담인데 저녁 먹고 디저트까지”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05840" y="3108960"/>
            <a:ext cx="4617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07008" y="32278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“비 오는 날 조용한 카페”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005840" y="3730752"/>
            <a:ext cx="4617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207008" y="384962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“부모님 모시고 갈 한식집”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1005840" y="4352544"/>
            <a:ext cx="4617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07008" y="44714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“강릉 1박 코스”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005840" y="4974336"/>
            <a:ext cx="4617720" cy="47548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CE5E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07008" y="5093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“아직 안 가본 디저트”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783080"/>
            <a:ext cx="5257800" cy="3931920"/>
          </a:xfrm>
          <a:prstGeom prst="roundRect">
            <a:avLst>
              <a:gd name="adj" fmla="val 2791"/>
            </a:avLst>
          </a:prstGeom>
          <a:solidFill>
            <a:srgbClr val="E8EFF9"/>
          </a:solidFill>
          <a:ln w="12700">
            <a:solidFill>
              <a:srgbClr val="E8EFF9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537960" y="20299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결과로 나오는 것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537960" y="2514600"/>
            <a:ext cx="329184" cy="329184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256946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24963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제목과 요약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95160" y="27706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3곳 · 2.4km · 약 3시간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291840"/>
            <a:ext cx="329184" cy="329184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334670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95160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 위 번호 경로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35478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→ 2 → 3 순서와 점선 동선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069080"/>
            <a:ext cx="329184" cy="329184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412394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995160" y="40507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시간순 타임라인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43251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18:30 한식 · 20:20 디저트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4846320"/>
            <a:ext cx="329184" cy="329184"/>
          </a:xfrm>
          <a:prstGeom prst="ellipse">
            <a:avLst/>
          </a:prstGeom>
          <a:solidFill>
            <a:srgbClr val="3B7DE0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537960" y="4901184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6995160" y="48280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장소별 추천 이유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5102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순서인지까지 설명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685800" y="58978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코스는 내가 저장한 750곳 안에서만 짜집니다. 거리·소요시간·이동수단은 좌표로 계산돼요.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SYNC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최신화는 두 겹으로 돈다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5166360" cy="301752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57400"/>
            <a:ext cx="777240" cy="384048"/>
          </a:xfrm>
          <a:prstGeom prst="roundRect">
            <a:avLst>
              <a:gd name="adj" fmla="val 23810"/>
            </a:avLst>
          </a:prstGeom>
          <a:solidFill>
            <a:srgbClr val="3B7DE0"/>
          </a:solidFill>
          <a:ln w="12700">
            <a:solidFill>
              <a:srgbClr val="3B7D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048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즉시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⟳ 버튼 · 24시간마다 자동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024128" y="2999232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새로 저장한 장소가 즉시 지도에 추가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네이버에서 지운 장소는 즉시 사라짐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사진·평점은 아직 안 붙음 (‘새로 추가’ 표시)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1783080"/>
            <a:ext cx="5166360" cy="3017520"/>
          </a:xfrm>
          <a:prstGeom prst="roundRect">
            <a:avLst>
              <a:gd name="adj" fmla="val 3636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057400"/>
            <a:ext cx="777240" cy="384048"/>
          </a:xfrm>
          <a:prstGeom prst="roundRect">
            <a:avLst>
              <a:gd name="adj" fmla="val 23810"/>
            </a:avLst>
          </a:prstGeom>
          <a:solidFill>
            <a:srgbClr val="3FB78C"/>
          </a:solidFill>
          <a:ln w="12700">
            <a:solidFill>
              <a:srgbClr val="3FB7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29400" y="213055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 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204825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새벽 2시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B78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Actions 자동 실행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47688" y="2999232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사진·평점·메뉴까지 완전히 채움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겹1에서 비어 있던 장소가 채워짐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빌드 후 자동 배포까지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85800" y="5029200"/>
            <a:ext cx="10789920" cy="1005840"/>
          </a:xfrm>
          <a:prstGeom prst="roundRect">
            <a:avLst>
              <a:gd name="adj" fmla="val 10909"/>
            </a:avLst>
          </a:prstGeom>
          <a:solidFill>
            <a:srgbClr val="FFF4E0"/>
          </a:solidFill>
          <a:ln w="12700">
            <a:solidFill>
              <a:srgbClr val="F0DDB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51560" y="519379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5A1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겹 2를 켜려면 GitHub Secrets 두 개가 필요합니다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5522976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A4E1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NAVER_COOKIE (네이버 로그인 쿠키)  ·  CLOUDFLARE_API_TOKEN (없으면 데이터만 커밋되고 배포는 안 됨)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B7DE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5836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무엇으로 만들었나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85800" y="1874520"/>
            <a:ext cx="2487168" cy="2606040"/>
          </a:xfrm>
          <a:prstGeom prst="roundRect">
            <a:avLst>
              <a:gd name="adj" fmla="val 441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78408" y="2176272"/>
            <a:ext cx="164592" cy="164592"/>
          </a:xfrm>
          <a:prstGeom prst="ellipse">
            <a:avLst/>
          </a:prstGeom>
          <a:solidFill>
            <a:srgbClr val="8A7B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프론트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바닐라 JS + Leaflet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978408" y="312724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프레임워크 없이 단일 파일 구조.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지도는 Leaflet + CARTO 타일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47288" y="1874520"/>
            <a:ext cx="2487168" cy="2606040"/>
          </a:xfrm>
          <a:prstGeom prst="roundRect">
            <a:avLst>
              <a:gd name="adj" fmla="val 441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739896" y="2176272"/>
            <a:ext cx="164592" cy="164592"/>
          </a:xfrm>
          <a:prstGeom prst="ellipse">
            <a:avLst/>
          </a:prstGeom>
          <a:solidFill>
            <a:srgbClr val="3FB78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39896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호스팅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739896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Cloudflare Pages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3739896" y="312724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정적 배포 + 엣지 함수.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비밀번호(Basic Auth)로 보호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08776" y="1874520"/>
            <a:ext cx="2487168" cy="2606040"/>
          </a:xfrm>
          <a:prstGeom prst="roundRect">
            <a:avLst>
              <a:gd name="adj" fmla="val 441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01384" y="2176272"/>
            <a:ext cx="164592" cy="164592"/>
          </a:xfrm>
          <a:prstGeom prst="ellipse">
            <a:avLst/>
          </a:prstGeom>
          <a:solidFill>
            <a:srgbClr val="D99A5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01384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수집·빌드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01384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Python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6501384" y="312724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즐겨찾기 수집 → 보강 → 분류 →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places.json 생성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70264" y="1874520"/>
            <a:ext cx="2487168" cy="2606040"/>
          </a:xfrm>
          <a:prstGeom prst="roundRect">
            <a:avLst>
              <a:gd name="adj" fmla="val 4412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62872" y="2176272"/>
            <a:ext cx="164592" cy="164592"/>
          </a:xfrm>
          <a:prstGeom prst="ellipse">
            <a:avLst/>
          </a:prstGeom>
          <a:solidFill>
            <a:srgbClr val="A6B4C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262872" y="23957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9262872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Gemini</a:t>
            </a:r>
            <a:endParaRPr lang="en-US" sz="1550" dirty="0"/>
          </a:p>
        </p:txBody>
      </p:sp>
      <p:sp>
        <p:nvSpPr>
          <p:cNvPr id="23" name="Text 21"/>
          <p:cNvSpPr txBox="1"/>
          <p:nvPr/>
        </p:nvSpPr>
        <p:spPr>
          <a:xfrm>
            <a:off x="9262872" y="3127248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코스 생성. 실패 시 자동으로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간이 추천으로 폴백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85800" y="4709160"/>
            <a:ext cx="10789920" cy="109728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F4F7FB"/>
            </a:solidFill>
            <a:prstDash val="solid"/>
          </a:ln>
          <a:effectLst>
            <a:outerShdw sx="100000" sy="100000" kx="0" ky="0" algn="bl" rotWithShape="0" blurRad="177800" dist="50800" dir="5400000">
              <a:srgbClr val="1E3A5F">
                <a:alpha val="13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1051560" y="487375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02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 — 네이버 원본을 건드리는 기능은 3중 잠금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5193792"/>
            <a:ext cx="10149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쿠키가 없으면 아무것도 실행되지 않음      ②  쓰기 스위치가 켜져 있어야 허용      ③  삭제 전 “무엇이 지워지는지” 미리보기 확인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62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58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FB0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STATUS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어디까지 왔나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5212080" cy="3337560"/>
          </a:xfrm>
          <a:prstGeom prst="roundRect">
            <a:avLst>
              <a:gd name="adj" fmla="val 3288"/>
            </a:avLst>
          </a:prstGeom>
          <a:solidFill>
            <a:srgbClr val="1E2C3D"/>
          </a:solidFill>
          <a:ln w="12700">
            <a:solidFill>
              <a:srgbClr val="1E2C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43000" y="2231136"/>
            <a:ext cx="182880" cy="182880"/>
          </a:xfrm>
          <a:prstGeom prst="ellipse">
            <a:avLst/>
          </a:prstGeom>
          <a:solidFill>
            <a:srgbClr val="3FB78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63040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된 것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265176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즐겨찾기 750곳 수집·분류·배포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테마 11종 · 지역 3단 · 검색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별점 · 방문 · 메모 · 점수 정렬/필터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코스 · 폰/PC 반응형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갱신 · 앱에서 삭제하면 네이버에도 반영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074920" cy="3337560"/>
          </a:xfrm>
          <a:prstGeom prst="roundRect">
            <a:avLst>
              <a:gd name="adj" fmla="val 3288"/>
            </a:avLst>
          </a:prstGeom>
          <a:solidFill>
            <a:srgbClr val="1E2C3D"/>
          </a:solidFill>
          <a:ln w="12700">
            <a:solidFill>
              <a:srgbClr val="1E2C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231136"/>
            <a:ext cx="182880" cy="182880"/>
          </a:xfrm>
          <a:prstGeom prst="ellipse">
            <a:avLst/>
          </a:prstGeom>
          <a:solidFill>
            <a:srgbClr val="D999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49440" y="21488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47688" y="265176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매일 자동 갱신 — GitHub Secrets 2개 등록 필요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기록이 기기에만 저장 — 백업 권장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메모·이름 수정은 범위에서 제외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앱에서 새 장소 추가는 불가 (네이버에서 저장)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623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favplace-map.pages.dev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0" y="566928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8C9BA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2026.09.04 기준 · 750곳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하영의 지도 (favplace)</dc:title>
  <dc:subject>PptxGenJS Presentation</dc:subject>
  <dc:creator>하영</dc:creator>
  <cp:lastModifiedBy>하영</cp:lastModifiedBy>
  <cp:revision>1</cp:revision>
  <dcterms:created xsi:type="dcterms:W3CDTF">2026-09-04T04:43:15Z</dcterms:created>
  <dcterms:modified xsi:type="dcterms:W3CDTF">2026-09-04T04:43:15Z</dcterms:modified>
</cp:coreProperties>
</file>